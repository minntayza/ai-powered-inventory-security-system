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cd05a3bb04b6c" /><Relationship Type="http://schemas.openxmlformats.org/officeDocument/2006/relationships/extended-properties" Target="/docProps/app.xml" Id="Rf8d70ee4605e4361" /><Relationship Type="http://schemas.openxmlformats.org/officeDocument/2006/relationships/officeDocument" Target="/ppt/presentation.xml" Id="R2aa1e3ca35bc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0813c2b24f4428"/>
  </p:sldMasterIdLst>
  <p:notesMasterIdLst>
    <p:notesMasterId xmlns:r="http://schemas.openxmlformats.org/officeDocument/2006/relationships" r:id="Ra254ef039e814fab"/>
  </p:notesMasterIdLst>
  <p:sldIdLst>
    <p:sldId xmlns:r="http://schemas.openxmlformats.org/officeDocument/2006/relationships" id="256" r:id="R585827ec621b472a"/>
    <p:sldId xmlns:r="http://schemas.openxmlformats.org/officeDocument/2006/relationships" id="257" r:id="R1817c7751d504e6d"/>
    <p:sldId xmlns:r="http://schemas.openxmlformats.org/officeDocument/2006/relationships" id="258" r:id="R74d4cf3ff60d40bc"/>
    <p:sldId xmlns:r="http://schemas.openxmlformats.org/officeDocument/2006/relationships" id="259" r:id="Rf06514eaaf784c0a"/>
    <p:sldId xmlns:r="http://schemas.openxmlformats.org/officeDocument/2006/relationships" id="260" r:id="R8498a6e5e6cc4fba"/>
    <p:sldId xmlns:r="http://schemas.openxmlformats.org/officeDocument/2006/relationships" id="261" r:id="R48fdb68ec4cb4931"/>
    <p:sldId xmlns:r="http://schemas.openxmlformats.org/officeDocument/2006/relationships" id="262" r:id="R6e88f6e8a1b647b1"/>
    <p:sldId xmlns:r="http://schemas.openxmlformats.org/officeDocument/2006/relationships" id="263" r:id="Rf5893f3343bb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f4dba3f3142c8" /><Relationship Type="http://schemas.openxmlformats.org/officeDocument/2006/relationships/slideMaster" Target="/ppt/slideMasters/slideMaster1.xml" Id="R600813c2b24f4428" /><Relationship Type="http://schemas.openxmlformats.org/officeDocument/2006/relationships/notesMaster" Target="/ppt/notesMasters/notesMaster1.xml" Id="Ra254ef039e814fab" /><Relationship Type="http://schemas.openxmlformats.org/officeDocument/2006/relationships/presProps" Target="/ppt/presProps.xml" Id="R28f419a9a01a457a" /><Relationship Type="http://schemas.openxmlformats.org/officeDocument/2006/relationships/tableStyles" Target="/ppt/tableStyles.xml" Id="Ra676dca9f1794e84" /><Relationship Type="http://schemas.openxmlformats.org/officeDocument/2006/relationships/slide" Target="/ppt/slides/slide1.xml" Id="R585827ec621b472a" /><Relationship Type="http://schemas.openxmlformats.org/officeDocument/2006/relationships/slide" Target="/ppt/slides/slide2.xml" Id="R1817c7751d504e6d" /><Relationship Type="http://schemas.openxmlformats.org/officeDocument/2006/relationships/slide" Target="/ppt/slides/slide3.xml" Id="R74d4cf3ff60d40bc" /><Relationship Type="http://schemas.openxmlformats.org/officeDocument/2006/relationships/slide" Target="/ppt/slides/slide4.xml" Id="Rf06514eaaf784c0a" /><Relationship Type="http://schemas.openxmlformats.org/officeDocument/2006/relationships/slide" Target="/ppt/slides/slide5.xml" Id="R8498a6e5e6cc4fba" /><Relationship Type="http://schemas.openxmlformats.org/officeDocument/2006/relationships/slide" Target="/ppt/slides/slide6.xml" Id="R48fdb68ec4cb4931" /><Relationship Type="http://schemas.openxmlformats.org/officeDocument/2006/relationships/slide" Target="/ppt/slides/slide7.xml" Id="R6e88f6e8a1b647b1" /><Relationship Type="http://schemas.openxmlformats.org/officeDocument/2006/relationships/slide" Target="/ppt/slides/slide8.xml" Id="Rf5893f3343bb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41410660d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c5ee3ae224f3c" /><Relationship Type="http://schemas.openxmlformats.org/officeDocument/2006/relationships/notesMaster" Target="/ppt/notesMasters/notesMaster1.xml" Id="R994f293af666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431c39f0d4215" /><Relationship Type="http://schemas.openxmlformats.org/officeDocument/2006/relationships/notesMaster" Target="/ppt/notesMasters/notesMaster1.xml" Id="R304b18373efd49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0662eeb6c44e77" /><Relationship Type="http://schemas.openxmlformats.org/officeDocument/2006/relationships/notesMaster" Target="/ppt/notesMasters/notesMaster1.xml" Id="R8e405bcf330c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b6aa975bd46aa" /><Relationship Type="http://schemas.openxmlformats.org/officeDocument/2006/relationships/notesMaster" Target="/ppt/notesMasters/notesMaster1.xml" Id="Raad05e01e880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8355e5ebbf4bec" /><Relationship Type="http://schemas.openxmlformats.org/officeDocument/2006/relationships/notesMaster" Target="/ppt/notesMasters/notesMaster1.xml" Id="Rc8cc1e9df910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1d68b0b7044f5" /><Relationship Type="http://schemas.openxmlformats.org/officeDocument/2006/relationships/notesMaster" Target="/ppt/notesMasters/notesMaster1.xml" Id="R60d1c2f2918242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0a39a41f34075" /><Relationship Type="http://schemas.openxmlformats.org/officeDocument/2006/relationships/notesMaster" Target="/ppt/notesMasters/notesMaster1.xml" Id="Rf403508e8dd147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2b7dd8fa6d44ff" /><Relationship Type="http://schemas.openxmlformats.org/officeDocument/2006/relationships/notesMaster" Target="/ppt/notesMasters/notesMaster1.xml" Id="Rb6944654b40c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 small local system that converts ordinary camera footage into an auditable security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docs/CLASSROOM_DEMO_FEATURE_IMPLEMENTATION_PLAN.md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VLM never makes authorization or theft decisions; deterministic policy owns that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src/backend_alerting/event_loop.py</a:t>
            </a:r>
          </a:p>
          <a:p xmlns:a="http://schemas.openxmlformats.org/drawingml/2006/main">
            <a:r>
              <a:t>- Repository: src/backend_alerting/theft_logic.py</a:t>
            </a:r>
          </a:p>
          <a:p xmlns:a="http://schemas.openxmlformats.org/drawingml/2006/main">
            <a:r>
              <a:t>- Repository: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configuration defaults, not universal performance claims. Explain why each reduces demo noise.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configs/camera_config.yaml</a:t>
            </a:r>
          </a:p>
          <a:p xmlns:a="http://schemas.openxmlformats.org/drawingml/2006/main">
            <a:r>
              <a:t>- Repository: configs/thresholds.yaml</a:t>
            </a:r>
          </a:p>
          <a:p xmlns:a="http://schemas.openxmlformats.org/drawingml/2006/main">
            <a:r>
              <a:t>- Repository: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and show that every response is downstream of a stored, structured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src/module_a_perception_engine</a:t>
            </a:r>
          </a:p>
          <a:p xmlns:a="http://schemas.openxmlformats.org/drawingml/2006/main">
            <a:r>
              <a:t>- Repository: src/backend_alerting</a:t>
            </a:r>
          </a:p>
          <a:p xmlns:a="http://schemas.openxmlformats.org/drawingml/2006/main">
            <a:r>
              <a:t>- Repository: docs/api_contracts/security_event_schema.md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83 tests passed on the development machine; hardware acceptance is not yet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docs/QA_VALIDATION_RESULTS.md</a:t>
            </a:r>
          </a:p>
          <a:p xmlns:a="http://schemas.openxmlformats.org/drawingml/2006/main">
            <a:r>
              <a:t>- Repository: hardware_setup/face_database_specs.md</a:t>
            </a:r>
          </a:p>
          <a:p xmlns:a="http://schemas.openxmlformats.org/drawingml/2006/main">
            <a:r>
              <a:t>- Repository: configs/alert_config.yaml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build trust: the operator sees degraded state and the core loop keeps moving.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src/module_a_perception_engine/face_detector.py</a:t>
            </a:r>
          </a:p>
          <a:p xmlns:a="http://schemas.openxmlformats.org/drawingml/2006/main">
            <a:r>
              <a:t>- Repository: src/utils/frame_capture.py</a:t>
            </a:r>
          </a:p>
          <a:p xmlns:a="http://schemas.openxmlformats.org/drawingml/2006/main">
            <a:r>
              <a:t>- Repository: src/utils/gpu_manager.py</a:t>
            </a:r>
          </a:p>
          <a:p xmlns:a="http://schemas.openxmlformats.org/drawingml/2006/main">
            <a:r>
              <a:t>- Repository: src/backend_alerting/event_loop.py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skip the READY check. If hardware is unstable, use uploaded replay to explain the workflow without external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hardware_setup/camera_setup_guide.md</a:t>
            </a:r>
          </a:p>
          <a:p xmlns:a="http://schemas.openxmlformats.org/drawingml/2006/main">
            <a:r>
              <a:t>- Repository: docs/QA_VALIDATION_RESULTS.md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 audience to choose an authorized or unknown-person scenario for the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docs/QA_VALIDATION_RESULTS.md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604124c16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bc5595ebe459b" /><Relationship Type="http://schemas.openxmlformats.org/officeDocument/2006/relationships/slideLayout" Target="/ppt/slideLayouts/slideLayout1.xml" Id="R9707039d5b1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7039d5b1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c80b8e80d4283" /><Relationship Type="http://schemas.openxmlformats.org/officeDocument/2006/relationships/notesSlide" Target="/ppt/notesSlides/notesSlide1.xml" Id="R9fae4a50d986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d57e858dc4c57" /><Relationship Type="http://schemas.openxmlformats.org/officeDocument/2006/relationships/notesSlide" Target="/ppt/notesSlides/notesSlide2.xml" Id="R3d6dafec344e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c86ec3b654856" /><Relationship Type="http://schemas.openxmlformats.org/officeDocument/2006/relationships/notesSlide" Target="/ppt/notesSlides/notesSlide3.xml" Id="R7c8bd774eb11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d2682a65d40b5" /><Relationship Type="http://schemas.openxmlformats.org/officeDocument/2006/relationships/notesSlide" Target="/ppt/notesSlides/notesSlide4.xml" Id="R4e94c7fea0c8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f710fc6924b2d" /><Relationship Type="http://schemas.openxmlformats.org/officeDocument/2006/relationships/notesSlide" Target="/ppt/notesSlides/notesSlide5.xml" Id="Rb81743556201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d2ed81abc4fb1" /><Relationship Type="http://schemas.openxmlformats.org/officeDocument/2006/relationships/notesSlide" Target="/ppt/notesSlides/notesSlide6.xml" Id="Rcffde663d41f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a6fa974e541be" /><Relationship Type="http://schemas.openxmlformats.org/officeDocument/2006/relationships/notesSlide" Target="/ppt/notesSlides/notesSlide7.xml" Id="Rb65ef779c32347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c9bf27d6415a" /><Relationship Type="http://schemas.openxmlformats.org/officeDocument/2006/relationships/notesSlide" Target="/ppt/notesSlides/notesSlide8.xml" Id="R830e15970d31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accent">
            <a:extLst xmlns:a="http://schemas.openxmlformats.org/drawingml/2006/main">
              <a:ext uri="{FF2B5EF4-FFF2-40B4-BE49-F238E27FC236}">
                <a16:creationId xmlns:a16="http://schemas.microsoft.com/office/drawing/2014/main" id="{B565EE36-C1D8-4D20-A3DC-7BB7B030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993A731-4EE1-4E69-8981-63F4510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80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EXHIBITION-READY EDGE AI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299816-20CC-4254-8371-70D68D1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047750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spcAft>
                <a:spcPts val="600"/>
              </a:spcAft>
              <a:buNone/>
              <a:defRPr sz="5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AI-Powered
Inventory Security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A408CC1-E39D-405C-B1E5-B820C2AC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7810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9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One camera. Local decisions. Evidence-backed alerts.</a:t>
            </a:r>
          </a:p>
        </p:txBody>
      </p:sp>
    </p:spTree>
    <p:extLst>
      <p:ext uri="{BB962C8B-B14F-4D97-AF65-F5344CB8AC3E}">
        <p14:creationId xmlns:p14="http://schemas.microsoft.com/office/powerpoint/2010/main" val="620915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2-Title-accent">
            <a:extLst xmlns:a="http://schemas.openxmlformats.org/drawingml/2006/main">
              <a:ext uri="{FF2B5EF4-FFF2-40B4-BE49-F238E27FC236}">
                <a16:creationId xmlns:a16="http://schemas.microsoft.com/office/drawing/2014/main" id="{A084E5CF-D7E5-4A40-B6B2-CF2E1848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90A4FDAD-70CE-4F12-9299-C9DF548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7981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6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gap is not video — it is a trustworthy decision</a:t>
            </a:r>
          </a:p>
        </p:txBody>
      </p:sp>
      <p:cxnSp>
        <p:nvCxnSpPr>
          <p:cNvPr id="19" name="P2-Time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sp>
        <p:nvSpPr>
          <p:cNvPr id="4" name="P2-Slide-number">
            <a:extLst xmlns:a="http://schemas.openxmlformats.org/drawingml/2006/main">
              <a:ext uri="{FF2B5EF4-FFF2-40B4-BE49-F238E27FC236}">
                <a16:creationId xmlns:a16="http://schemas.microsoft.com/office/drawing/2014/main" id="{9B0CC364-D7E9-45FA-B5BA-67C219A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P2-Card-1">
            <a:extLst xmlns:a="http://schemas.openxmlformats.org/drawingml/2006/main">
              <a:ext uri="{FF2B5EF4-FFF2-40B4-BE49-F238E27FC236}">
                <a16:creationId xmlns:a16="http://schemas.microsoft.com/office/drawing/2014/main" id="{38772848-15F2-4AA3-AB0B-86FA44A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6" name="P2-Card-text-1">
            <a:extLst xmlns:a="http://schemas.openxmlformats.org/drawingml/2006/main">
              <a:ext uri="{FF2B5EF4-FFF2-40B4-BE49-F238E27FC236}">
                <a16:creationId xmlns:a16="http://schemas.microsoft.com/office/drawing/2014/main" id="{E1DD633D-441F-4161-A632-2D87F6E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 live camera observes people and protected inventory inside a selected shelf zone.</a:t>
            </a:r>
          </a:p>
        </p:txBody>
      </p:sp>
      <p:sp>
        <p:nvSpPr>
          <p:cNvPr id="7" name="P2-Milestone-1">
            <a:extLst xmlns:a="http://schemas.openxmlformats.org/drawingml/2006/main">
              <a:ext uri="{FF2B5EF4-FFF2-40B4-BE49-F238E27FC236}">
                <a16:creationId xmlns:a16="http://schemas.microsoft.com/office/drawing/2014/main" id="{F31F888F-5A3E-4BAC-9501-6F252153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8" name="P2-Label-1">
            <a:extLst xmlns:a="http://schemas.openxmlformats.org/drawingml/2006/main">
              <a:ext uri="{FF2B5EF4-FFF2-40B4-BE49-F238E27FC236}">
                <a16:creationId xmlns:a16="http://schemas.microsoft.com/office/drawing/2014/main" id="{EE74C6B8-BF38-41F0-AC3A-B416A76F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Camera frame</a:t>
            </a:r>
          </a:p>
        </p:txBody>
      </p:sp>
      <p:sp>
        <p:nvSpPr>
          <p:cNvPr id="9" name="P2-Card-2">
            <a:extLst xmlns:a="http://schemas.openxmlformats.org/drawingml/2006/main">
              <a:ext uri="{FF2B5EF4-FFF2-40B4-BE49-F238E27FC236}">
                <a16:creationId xmlns:a16="http://schemas.microsoft.com/office/drawing/2014/main" id="{DB7DC69E-5593-4CAF-A107-83115757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0" name="P2-Card-text-2">
            <a:extLst xmlns:a="http://schemas.openxmlformats.org/drawingml/2006/main">
              <a:ext uri="{FF2B5EF4-FFF2-40B4-BE49-F238E27FC236}">
                <a16:creationId xmlns:a16="http://schemas.microsoft.com/office/drawing/2014/main" id="{C1ACC82F-3964-42C1-9CE9-467DEF6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Object counts, identity, grace periods, and a deterministic state machine explain what changed.</a:t>
            </a:r>
          </a:p>
        </p:txBody>
      </p:sp>
      <p:sp>
        <p:nvSpPr>
          <p:cNvPr id="11" name="P2-Milestone-2">
            <a:extLst xmlns:a="http://schemas.openxmlformats.org/drawingml/2006/main">
              <a:ext uri="{FF2B5EF4-FFF2-40B4-BE49-F238E27FC236}">
                <a16:creationId xmlns:a16="http://schemas.microsoft.com/office/drawing/2014/main" id="{256D4B61-3551-4EEA-A08A-1C49A88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12" name="P2-Label-2">
            <a:extLst xmlns:a="http://schemas.openxmlformats.org/drawingml/2006/main">
              <a:ext uri="{FF2B5EF4-FFF2-40B4-BE49-F238E27FC236}">
                <a16:creationId xmlns:a16="http://schemas.microsoft.com/office/drawing/2014/main" id="{A874AE60-711B-4E8D-8FA5-C140BDA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 policy</a:t>
            </a:r>
          </a:p>
        </p:txBody>
      </p:sp>
      <p:sp>
        <p:nvSpPr>
          <p:cNvPr id="13" name="P2-Card-3">
            <a:extLst xmlns:a="http://schemas.openxmlformats.org/drawingml/2006/main">
              <a:ext uri="{FF2B5EF4-FFF2-40B4-BE49-F238E27FC236}">
                <a16:creationId xmlns:a16="http://schemas.microsoft.com/office/drawing/2014/main" id="{D9E23750-F367-4D67-9E57-5712428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14" name="P2-Card-text-3">
            <a:extLst xmlns:a="http://schemas.openxmlformats.org/drawingml/2006/main">
              <a:ext uri="{FF2B5EF4-FFF2-40B4-BE49-F238E27FC236}">
                <a16:creationId xmlns:a16="http://schemas.microsoft.com/office/drawing/2014/main" id="{F2D60A2A-AA42-461B-86D2-E52CE4A2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RESPOND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 confirmed incident creates local evidence, a red operator alert, and optional delivery.</a:t>
            </a:r>
          </a:p>
        </p:txBody>
      </p:sp>
      <p:sp>
        <p:nvSpPr>
          <p:cNvPr id="15" name="P2-Milestone-3">
            <a:extLst xmlns:a="http://schemas.openxmlformats.org/drawingml/2006/main">
              <a:ext uri="{FF2B5EF4-FFF2-40B4-BE49-F238E27FC236}">
                <a16:creationId xmlns:a16="http://schemas.microsoft.com/office/drawing/2014/main" id="{B797992F-494D-4549-92C3-F93A577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16" name="P2-Label-3">
            <a:extLst xmlns:a="http://schemas.openxmlformats.org/drawingml/2006/main">
              <a:ext uri="{FF2B5EF4-FFF2-40B4-BE49-F238E27FC236}">
                <a16:creationId xmlns:a16="http://schemas.microsoft.com/office/drawing/2014/main" id="{138708B6-F6FD-4D6A-B096-BD78B4BA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Actionable event</a:t>
            </a:r>
          </a:p>
        </p:txBody>
      </p:sp>
    </p:spTree>
    <p:extLst>
      <p:ext uri="{BB962C8B-B14F-4D97-AF65-F5344CB8AC3E}">
        <p14:creationId xmlns:p14="http://schemas.microsoft.com/office/powerpoint/2010/main" val="206564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1A634E3-57FD-48CB-BE74-50ADBBD9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709256-01C3-47D7-B49B-943D9EC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Guardrails make the classroom demo predictable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596DDD9E-7938-47DD-87E3-829E1760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404568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SAFE BY DEFAULT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The operator selects a monitored zone, establishes a stable baseline, and explicitly arms the system. Replay remains a simulation.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D72495-566F-4703-AF44-BCEB192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9ADACC4E-198D-43DB-B090-D22437F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9B50D640-F3EC-4EA1-B651-2444379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10 FPS</a:t>
            </a:r>
          </a:p>
        </p:txBody>
      </p:sp>
      <p:sp>
        <p:nvSpPr>
          <p:cNvPr id="7" name="Metric-caption-1">
            <a:extLst xmlns:a="http://schemas.openxmlformats.org/drawingml/2006/main">
              <a:ext uri="{FF2B5EF4-FFF2-40B4-BE49-F238E27FC236}">
                <a16:creationId xmlns:a16="http://schemas.microsoft.com/office/drawing/2014/main" id="{C6654004-B2EA-4C92-9567-F40BDC2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Configured capture target</a:t>
            </a:r>
          </a:p>
        </p:txBody>
      </p:sp>
      <p:sp>
        <p:nvSpPr>
          <p:cNvPr id="8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F7A61C0-8630-45A5-8782-89845B7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42CB17EB-62F4-4F72-AA6D-19464F6C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 sec</a:t>
            </a:r>
          </a:p>
        </p:txBody>
      </p:sp>
      <p:sp>
        <p:nvSpPr>
          <p:cNvPr id="10" name="Metric-caption-2">
            <a:extLst xmlns:a="http://schemas.openxmlformats.org/drawingml/2006/main">
              <a:ext uri="{FF2B5EF4-FFF2-40B4-BE49-F238E27FC236}">
                <a16:creationId xmlns:a16="http://schemas.microsoft.com/office/drawing/2014/main" id="{B0AE5AB0-8D47-4C98-B561-D8EAAEBC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Security grace period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72180276-0E7C-444D-81BC-0120ABE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A3480A27-A6DE-403F-92DE-7B1A574D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30 sec</a:t>
            </a:r>
          </a:p>
        </p:txBody>
      </p:sp>
      <p:sp>
        <p:nvSpPr>
          <p:cNvPr id="13" name="Metric-caption-3">
            <a:extLst xmlns:a="http://schemas.openxmlformats.org/drawingml/2006/main">
              <a:ext uri="{FF2B5EF4-FFF2-40B4-BE49-F238E27FC236}">
                <a16:creationId xmlns:a16="http://schemas.microsoft.com/office/drawing/2014/main" id="{BD815987-E4DD-464B-831A-B813E045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Alert cooldown</a:t>
            </a:r>
          </a:p>
        </p:txBody>
      </p:sp>
    </p:spTree>
    <p:extLst>
      <p:ext uri="{BB962C8B-B14F-4D97-AF65-F5344CB8AC3E}">
        <p14:creationId xmlns:p14="http://schemas.microsoft.com/office/powerpoint/2010/main" val="31766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8322CBE-F617-4D77-ADD4-ED57437D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844443-7A36-4E36-8C49-541254FD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incident becomes an explainable evidence trail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B7B2E4EF-6A64-45C5-8EA6-7E7CC9AE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404568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TRACEABLE FROM INPUT TO RESPONSE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Perception produces structured observations. Deterministic policy produces a security event. Persistence and alerts consume that same event.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019A8B-8AA1-490A-8231-35C84B3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6AF0864-2253-4CE5-8BD2-BD066F7A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D8C5F33F-6D7A-497C-9AF0-679B73F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FRAME</a:t>
            </a:r>
          </a:p>
        </p:txBody>
      </p:sp>
      <p:sp>
        <p:nvSpPr>
          <p:cNvPr id="7" name="Metric-caption-1">
            <a:extLst xmlns:a="http://schemas.openxmlformats.org/drawingml/2006/main">
              <a:ext uri="{FF2B5EF4-FFF2-40B4-BE49-F238E27FC236}">
                <a16:creationId xmlns:a16="http://schemas.microsoft.com/office/drawing/2014/main" id="{C68D9E99-6E02-4E3B-A55C-B72B2E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YOLO + DeepFace</a:t>
            </a:r>
          </a:p>
        </p:txBody>
      </p:sp>
      <p:sp>
        <p:nvSpPr>
          <p:cNvPr id="8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FC31AF71-AB90-41C4-9453-337417D0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7887D84-28C9-4C69-8C73-4EEFE8B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10" name="Metric-caption-2">
            <a:extLst xmlns:a="http://schemas.openxmlformats.org/drawingml/2006/main">
              <a:ext uri="{FF2B5EF4-FFF2-40B4-BE49-F238E27FC236}">
                <a16:creationId xmlns:a16="http://schemas.microsoft.com/office/drawing/2014/main" id="{590AD9BB-568C-45ED-BBF6-E469307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Identity + timing rules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A7768711-BA10-4E93-894D-520874E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352D39DE-CF9A-4D2A-BDE1-D14DBCE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3" name="Metric-caption-3">
            <a:extLst xmlns:a="http://schemas.openxmlformats.org/drawingml/2006/main">
              <a:ext uri="{FF2B5EF4-FFF2-40B4-BE49-F238E27FC236}">
                <a16:creationId xmlns:a16="http://schemas.microsoft.com/office/drawing/2014/main" id="{1C718E5B-B93A-462E-8E28-01EB1F1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SQLite + media + status</a:t>
            </a:r>
          </a:p>
        </p:txBody>
      </p:sp>
    </p:spTree>
    <p:extLst>
      <p:ext uri="{BB962C8B-B14F-4D97-AF65-F5344CB8AC3E}">
        <p14:creationId xmlns:p14="http://schemas.microsoft.com/office/powerpoint/2010/main" val="308978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817181D-F84E-480C-AE18-93B77391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8EA5BA-D288-4F09-BD22-E4601992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build now has measurable proof — and honest limits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FBFC84AC-3C32-48AC-995D-8EB167DE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404568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VERIFIED LOCALLY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Automated tests isolate external boundaries and exercise the full controller path. Physical camera, GPU, siren, and network checks remain explicit rehearsal tasks.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9C0AAB-2ED2-4466-8EB7-6F45C8EE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BC8AD44D-A65F-4671-A54F-F53F661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9FA75EDC-D10C-4024-8D6B-75DC25F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83</a:t>
            </a:r>
          </a:p>
        </p:txBody>
      </p:sp>
      <p:sp>
        <p:nvSpPr>
          <p:cNvPr id="7" name="Metric-caption-1">
            <a:extLst xmlns:a="http://schemas.openxmlformats.org/drawingml/2006/main">
              <a:ext uri="{FF2B5EF4-FFF2-40B4-BE49-F238E27FC236}">
                <a16:creationId xmlns:a16="http://schemas.microsoft.com/office/drawing/2014/main" id="{EA13CF85-81AD-4B15-BFB5-22D696CE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Automated tests passing</a:t>
            </a:r>
          </a:p>
        </p:txBody>
      </p:sp>
      <p:sp>
        <p:nvSpPr>
          <p:cNvPr id="8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B7110B0E-A068-4A3B-BCFC-6D6DD81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E4E5D245-14B2-4E69-80CF-472BDB9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1–5</a:t>
            </a:r>
          </a:p>
        </p:txBody>
      </p:sp>
      <p:sp>
        <p:nvSpPr>
          <p:cNvPr id="10" name="Metric-caption-2">
            <a:extLst xmlns:a="http://schemas.openxmlformats.org/drawingml/2006/main">
              <a:ext uri="{FF2B5EF4-FFF2-40B4-BE49-F238E27FC236}">
                <a16:creationId xmlns:a16="http://schemas.microsoft.com/office/drawing/2014/main" id="{446B45BD-1259-4C9F-99C1-8479A9E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Face images per enrollment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29BE968B-6998-48F0-BC16-D7F3309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60B990AA-487F-4B74-B5ED-B0FA9D30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30 days</a:t>
            </a:r>
          </a:p>
        </p:txBody>
      </p:sp>
      <p:sp>
        <p:nvSpPr>
          <p:cNvPr id="13" name="Metric-caption-3">
            <a:extLst xmlns:a="http://schemas.openxmlformats.org/drawingml/2006/main">
              <a:ext uri="{FF2B5EF4-FFF2-40B4-BE49-F238E27FC236}">
                <a16:creationId xmlns:a16="http://schemas.microsoft.com/office/drawing/2014/main" id="{792AE6EE-3F84-48D3-B980-077FF0F1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Default evidence retention</a:t>
            </a:r>
          </a:p>
        </p:txBody>
      </p:sp>
    </p:spTree>
    <p:extLst>
      <p:ext uri="{BB962C8B-B14F-4D97-AF65-F5344CB8AC3E}">
        <p14:creationId xmlns:p14="http://schemas.microsoft.com/office/powerpoint/2010/main" val="573356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6-Title-accent">
            <a:extLst xmlns:a="http://schemas.openxmlformats.org/drawingml/2006/main">
              <a:ext uri="{FF2B5EF4-FFF2-40B4-BE49-F238E27FC236}">
                <a16:creationId xmlns:a16="http://schemas.microsoft.com/office/drawing/2014/main" id="{A496A6EC-AC25-470A-8A32-538E884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4AC5B640-17B7-470C-9833-7B560A6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7981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6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Failure is visible, contained, and recoverable</a:t>
            </a:r>
          </a:p>
        </p:txBody>
      </p:sp>
      <p:cxnSp>
        <p:nvCxnSpPr>
          <p:cNvPr id="19" name="P6-Time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sp>
        <p:nvSpPr>
          <p:cNvPr id="4" name="P6-Slide-number">
            <a:extLst xmlns:a="http://schemas.openxmlformats.org/drawingml/2006/main">
              <a:ext uri="{FF2B5EF4-FFF2-40B4-BE49-F238E27FC236}">
                <a16:creationId xmlns:a16="http://schemas.microsoft.com/office/drawing/2014/main" id="{A8DF4493-916F-4DCB-BF56-C4F6955C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P6-Card-1">
            <a:extLst xmlns:a="http://schemas.openxmlformats.org/drawingml/2006/main">
              <a:ext uri="{FF2B5EF4-FFF2-40B4-BE49-F238E27FC236}">
                <a16:creationId xmlns:a16="http://schemas.microsoft.com/office/drawing/2014/main" id="{0BBD5FDB-8FE0-4043-9AC0-AF78E41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6" name="P6-Card-text-1">
            <a:extLst xmlns:a="http://schemas.openxmlformats.org/drawingml/2006/main">
              <a:ext uri="{FF2B5EF4-FFF2-40B4-BE49-F238E27FC236}">
                <a16:creationId xmlns:a16="http://schemas.microsoft.com/office/drawing/2014/main" id="{3B52618C-7068-48DD-BBB8-BC45FAA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DEGRADE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Face recognition or TTS errors publish component health instead of crashing monitoring.</a:t>
            </a:r>
          </a:p>
        </p:txBody>
      </p:sp>
      <p:sp>
        <p:nvSpPr>
          <p:cNvPr id="7" name="P6-Milestone-1">
            <a:extLst xmlns:a="http://schemas.openxmlformats.org/drawingml/2006/main">
              <a:ext uri="{FF2B5EF4-FFF2-40B4-BE49-F238E27FC236}">
                <a16:creationId xmlns:a16="http://schemas.microsoft.com/office/drawing/2014/main" id="{0FB942DB-F114-42F7-AD7C-10C17EFD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8" name="P6-Label-1">
            <a:extLst xmlns:a="http://schemas.openxmlformats.org/drawingml/2006/main">
              <a:ext uri="{FF2B5EF4-FFF2-40B4-BE49-F238E27FC236}">
                <a16:creationId xmlns:a16="http://schemas.microsoft.com/office/drawing/2014/main" id="{B971774F-0DBA-4113-BE6E-5123B30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Health signal</a:t>
            </a:r>
          </a:p>
        </p:txBody>
      </p:sp>
      <p:sp>
        <p:nvSpPr>
          <p:cNvPr id="9" name="P6-Card-2">
            <a:extLst xmlns:a="http://schemas.openxmlformats.org/drawingml/2006/main">
              <a:ext uri="{FF2B5EF4-FFF2-40B4-BE49-F238E27FC236}">
                <a16:creationId xmlns:a16="http://schemas.microsoft.com/office/drawing/2014/main" id="{1CE5F411-758F-40B0-94F3-D20E7E60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0" name="P6-Card-text-2">
            <a:extLst xmlns:a="http://schemas.openxmlformats.org/drawingml/2006/main">
              <a:ext uri="{FF2B5EF4-FFF2-40B4-BE49-F238E27FC236}">
                <a16:creationId xmlns:a16="http://schemas.microsoft.com/office/drawing/2014/main" id="{4895102F-141E-475F-8B66-85BD249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Camera reads retry and reopen with bounded backoff. One bad frame does not stop the controller.</a:t>
            </a:r>
          </a:p>
        </p:txBody>
      </p:sp>
      <p:sp>
        <p:nvSpPr>
          <p:cNvPr id="11" name="P6-Milestone-2">
            <a:extLst xmlns:a="http://schemas.openxmlformats.org/drawingml/2006/main">
              <a:ext uri="{FF2B5EF4-FFF2-40B4-BE49-F238E27FC236}">
                <a16:creationId xmlns:a16="http://schemas.microsoft.com/office/drawing/2014/main" id="{911213A9-2B7B-4909-9CCA-28509B42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12" name="P6-Label-2">
            <a:extLst xmlns:a="http://schemas.openxmlformats.org/drawingml/2006/main">
              <a:ext uri="{FF2B5EF4-FFF2-40B4-BE49-F238E27FC236}">
                <a16:creationId xmlns:a16="http://schemas.microsoft.com/office/drawing/2014/main" id="{12342095-5C22-43F0-BF63-FBBD208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Retry loop</a:t>
            </a:r>
          </a:p>
        </p:txBody>
      </p:sp>
      <p:sp>
        <p:nvSpPr>
          <p:cNvPr id="13" name="P6-Card-3">
            <a:extLst xmlns:a="http://schemas.openxmlformats.org/drawingml/2006/main">
              <a:ext uri="{FF2B5EF4-FFF2-40B4-BE49-F238E27FC236}">
                <a16:creationId xmlns:a16="http://schemas.microsoft.com/office/drawing/2014/main" id="{48CDBF89-DA63-470B-AE5F-A729DAF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14" name="P6-Card-text-3">
            <a:extLst xmlns:a="http://schemas.openxmlformats.org/drawingml/2006/main">
              <a:ext uri="{FF2B5EF4-FFF2-40B4-BE49-F238E27FC236}">
                <a16:creationId xmlns:a16="http://schemas.microsoft.com/office/drawing/2014/main" id="{5AC41520-257A-4842-98C8-F386FD0E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FALL BACK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CPU remains available; high GPU pressure is reported; replay disables physical alerts.</a:t>
            </a:r>
          </a:p>
        </p:txBody>
      </p:sp>
      <p:sp>
        <p:nvSpPr>
          <p:cNvPr id="15" name="P6-Milestone-3">
            <a:extLst xmlns:a="http://schemas.openxmlformats.org/drawingml/2006/main">
              <a:ext uri="{FF2B5EF4-FFF2-40B4-BE49-F238E27FC236}">
                <a16:creationId xmlns:a16="http://schemas.microsoft.com/office/drawing/2014/main" id="{B5B3B071-537C-4551-9929-1168A07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970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16" name="P6-Label-3">
            <a:extLst xmlns:a="http://schemas.openxmlformats.org/drawingml/2006/main">
              <a:ext uri="{FF2B5EF4-FFF2-40B4-BE49-F238E27FC236}">
                <a16:creationId xmlns:a16="http://schemas.microsoft.com/office/drawing/2014/main" id="{2CA334AD-B280-465C-9A20-7B0D56F9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Safe mode</a:t>
            </a:r>
          </a:p>
        </p:txBody>
      </p:sp>
    </p:spTree>
    <p:extLst>
      <p:ext uri="{BB962C8B-B14F-4D97-AF65-F5344CB8AC3E}">
        <p14:creationId xmlns:p14="http://schemas.microsoft.com/office/powerpoint/2010/main" val="482764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D3B3615-8F35-47DA-86F3-13A39E4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FBBE1E-C536-4422-8F7E-4914CAF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2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the live demo through three visible states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4ABEFED7-9000-4F22-BE07-A55C2A7B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404568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OPERATOR STORY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Keep the narrative on screen: first prove readiness, then arm a known baseline, then stage a safe unknown-person incident and review its evidence.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BDBF61-D647-4185-9785-C223504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600"/>
              </a:spcAft>
              <a:buNone/>
              <a:defRPr sz="10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B666B8CA-0E17-4314-8E69-3285E95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EE4E2"/>
          </a:solidFill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9F14414C-9F95-45BA-9F43-B7572C50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7" name="Metric-caption-1">
            <a:extLst xmlns:a="http://schemas.openxmlformats.org/drawingml/2006/main">
              <a:ext uri="{FF2B5EF4-FFF2-40B4-BE49-F238E27FC236}">
                <a16:creationId xmlns:a16="http://schemas.microsoft.com/office/drawing/2014/main" id="{1C0AA206-AAFC-49E3-AA01-43B2558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Camera + models healthy</a:t>
            </a:r>
          </a:p>
        </p:txBody>
      </p:sp>
      <p:sp>
        <p:nvSpPr>
          <p:cNvPr id="8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6C02853B-66D8-47BB-B68F-448C8AD3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F9B33D37-695E-4467-80A1-F37C43A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ARMED</a:t>
            </a:r>
          </a:p>
        </p:txBody>
      </p:sp>
      <p:sp>
        <p:nvSpPr>
          <p:cNvPr id="10" name="Metric-caption-2">
            <a:extLst xmlns:a="http://schemas.openxmlformats.org/drawingml/2006/main">
              <a:ext uri="{FF2B5EF4-FFF2-40B4-BE49-F238E27FC236}">
                <a16:creationId xmlns:a16="http://schemas.microsoft.com/office/drawing/2014/main" id="{90242963-930F-4227-ABBC-CDED151A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Stable baseline active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DDB6AF31-9A23-4BDE-A2EA-D004D87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</p:spPr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A674E0A5-3037-42F8-B78B-BE26C3FB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13" name="Metric-caption-3">
            <a:extLst xmlns:a="http://schemas.openxmlformats.org/drawingml/2006/main">
              <a:ext uri="{FF2B5EF4-FFF2-40B4-BE49-F238E27FC236}">
                <a16:creationId xmlns:a16="http://schemas.microsoft.com/office/drawing/2014/main" id="{3A0A1EF5-5E81-4F8E-B7B2-4C6831AF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6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Acknowledge + inspect</a:t>
            </a:r>
          </a:p>
        </p:txBody>
      </p:sp>
    </p:spTree>
    <p:extLst>
      <p:ext uri="{BB962C8B-B14F-4D97-AF65-F5344CB8AC3E}">
        <p14:creationId xmlns:p14="http://schemas.microsoft.com/office/powerpoint/2010/main" val="1251073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accent">
            <a:extLst xmlns:a="http://schemas.openxmlformats.org/drawingml/2006/main">
              <a:ext uri="{FF2B5EF4-FFF2-40B4-BE49-F238E27FC236}">
                <a16:creationId xmlns:a16="http://schemas.microsoft.com/office/drawing/2014/main" id="{195F5027-BEC0-4960-A0E6-6C222B5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882CB21-AA07-4559-9957-738DD1F4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80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DC61C-CD54-4EF3-8116-07C42EF6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047750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spcAft>
                <a:spcPts val="600"/>
              </a:spcAft>
              <a:buNone/>
              <a:defRPr sz="5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See the decision.
Trust the evidence.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009B4F9-5C6A-4C34-BD28-C4363BCF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7810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600"/>
              </a:spcAft>
              <a:buNone/>
              <a:defRPr sz="195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 privacy-conscious local security workflow designed to fail visibly and recover safely.</a:t>
            </a:r>
          </a:p>
        </p:txBody>
      </p:sp>
    </p:spTree>
    <p:extLst>
      <p:ext uri="{BB962C8B-B14F-4D97-AF65-F5344CB8AC3E}">
        <p14:creationId xmlns:p14="http://schemas.microsoft.com/office/powerpoint/2010/main" val="1878676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2026-08-29T14:29:03.6320000Z</dcterms:created>
  <dcterms:modified xsi:type="dcterms:W3CDTF">2026-08-29T14:29:03.6320000Z</dcterms:modified>
</coreProperties>
</file>